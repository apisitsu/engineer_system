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4" r:id="rId10"/>
    <p:sldId id="263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6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D8D2-C5CA-478C-AE63-4D5EE46AD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F5352-EE52-43E7-9E1E-C08C4CD5A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437CC-3400-482B-98F8-B254E6A50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2C526-D906-466E-81EA-77DF3869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933A9-27A1-42A6-A284-7FF953728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2377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4498-CD7E-4AAF-9D7E-AED54F4F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94E03-B7F1-48C7-81FD-EF93024EF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6E495-A783-4CE4-99F4-E8A1B16D8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C5ECB-9BDA-45E4-A86B-932B7400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1B727-67C4-4720-8EE6-C848FA34F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683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25B38-1D37-4212-8688-6ECB0E14C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7C2D2-1C6D-4536-BD78-8B7695DC8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8617A-BAFE-4A43-BDC1-72D6B6BA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D307-51DA-4BFB-A2B0-E6CE0B48C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870F7-ABCD-41C9-890A-75B4E539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32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384E-24C5-4864-92E0-0909D05D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1265D-C783-48FE-950C-92584487A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69052-0B7D-4F0B-B4AC-45FAE7CE6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7DC17-E4BA-45F7-90C5-BD7B73C5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26850-6D61-4BAB-92C9-E97C3D0B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AE8EF-A127-4DCD-AD30-CA2CC214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8258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0C29-08FB-415E-997B-ABFAB2A9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23DB1-EC3D-4A17-AE44-91790912A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4BD88-E96E-42D7-A70F-11500211E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DF3E0-6602-4520-8F14-AD81AFA01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238CB-8BE9-4C6F-9795-F6275D1D5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2112C-45DA-421C-A84E-5EE80E5B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BD5FA9-7E0D-4196-BC32-F895197C9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B9279-81B9-407E-A5A4-AD53AB0D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213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0BF2-3A56-4B3F-BC19-F7276012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2E82B-5F65-4349-A270-77C1D348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2E3E2-326C-4F63-9870-30B6F460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EBD5D-A3FC-4AEB-A82D-953D0146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047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44211-D1C0-4D86-BEBF-524B2E4F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3B389-BEF9-4FF7-A22E-E9AD69C6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02957-9AFE-4430-BEE4-76E0DD9C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5038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CB00-E3C6-40DD-8711-9DBAEB14B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2DF8E-B84F-42FE-AC66-D40924E32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0668A-4030-4180-AD4C-B1663746C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52AB4-CB48-4F47-A7DD-BF4C1870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2D998-B517-41D8-BA63-FB420611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11A36-FEFC-4033-96AA-5FBC470D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722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5B58-A91C-4622-BA5F-9FAE38752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AB54F-AA4E-4775-BCB1-652FE6E51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0E147-B07E-427D-BDCE-82AFB50BA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20C4C-6201-43B2-97F5-9421E3E4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ECF67-D52A-4321-A52A-B733687A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A1CF6-688B-451B-8BEA-DDCFA17B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0462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4C04-DBE4-4C8E-B754-AE7BE4B6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980A0-DDFC-4265-9586-52B47E7E8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E9151-D9BA-43D8-90BE-D347C88A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530FA-CE52-490A-9C5F-ECEDB900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0ACAA-8FD0-408F-9E23-1BB585D0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539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80625-523E-422E-B320-DAD881B4E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54A94-D8DE-4995-9617-0B2A8ADE5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27ACA-C6B9-4D94-8D07-F974D79B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070F5-C4CA-4DFA-8ED9-5A4DE4A99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A998-FDB5-4072-AA9C-7F539DEB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8323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855B4-41FE-4AA8-9C8A-02750FAB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227C2-33D7-4871-BF28-8C81235A4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6E31-AD83-4766-859E-09403BE01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31721-593B-4D5B-86E3-11638FD539E0}" type="datetimeFigureOut">
              <a:rPr lang="th-TH" smtClean="0"/>
              <a:t>22/04/69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FBCC1-7970-43E8-A5A1-DC7123922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10FB-9269-4C82-832D-9B78AF525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D8E0E-B528-44B6-AD0E-5D6D7FCF6D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4745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B5FFFD-DC3C-4051-893A-EAC9B76F0FEE}"/>
              </a:ext>
            </a:extLst>
          </p:cNvPr>
          <p:cNvSpPr txBox="1"/>
          <p:nvPr/>
        </p:nvSpPr>
        <p:spPr>
          <a:xfrm>
            <a:off x="461914" y="273378"/>
            <a:ext cx="3946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Drawing: AS81934/1</a:t>
            </a:r>
            <a:endParaRPr lang="th-T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9B0AF8-758C-4EB2-B7E8-F33EA7C05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82" y="1399329"/>
            <a:ext cx="5972182" cy="405934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37F660-E990-4A8D-B34E-7E692CFFF79B}"/>
              </a:ext>
            </a:extLst>
          </p:cNvPr>
          <p:cNvCxnSpPr/>
          <p:nvPr/>
        </p:nvCxnSpPr>
        <p:spPr>
          <a:xfrm>
            <a:off x="6332706" y="419293"/>
            <a:ext cx="0" cy="6283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E11568A-101B-4932-A441-3DDA55276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49" y="1399329"/>
            <a:ext cx="5697605" cy="405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1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2E9790-3568-4EF3-8A44-78A37D3B8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14" y="1035074"/>
            <a:ext cx="6020640" cy="4515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1667C9-0349-48F0-AF67-F6E2068B1A99}"/>
              </a:ext>
            </a:extLst>
          </p:cNvPr>
          <p:cNvSpPr txBox="1"/>
          <p:nvPr/>
        </p:nvSpPr>
        <p:spPr>
          <a:xfrm>
            <a:off x="461914" y="273378"/>
            <a:ext cx="3946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 Drawing: AS81934/1</a:t>
            </a:r>
            <a:endParaRPr lang="th-T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299B6-B55E-4E0E-8085-F256953D0AC4}"/>
              </a:ext>
            </a:extLst>
          </p:cNvPr>
          <p:cNvSpPr/>
          <p:nvPr/>
        </p:nvSpPr>
        <p:spPr>
          <a:xfrm>
            <a:off x="1994170" y="1108953"/>
            <a:ext cx="3745149" cy="826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AE6F6C4-0F0F-48B8-8D29-AD224BD29A76}"/>
              </a:ext>
            </a:extLst>
          </p:cNvPr>
          <p:cNvSpPr/>
          <p:nvPr/>
        </p:nvSpPr>
        <p:spPr>
          <a:xfrm>
            <a:off x="5881407" y="1322499"/>
            <a:ext cx="791768" cy="399757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EE4D51-DFC5-4B00-AF1B-256C494389D0}"/>
                  </a:ext>
                </a:extLst>
              </p:cNvPr>
              <p:cNvSpPr txBox="1"/>
              <p:nvPr/>
            </p:nvSpPr>
            <p:spPr>
              <a:xfrm>
                <a:off x="7057417" y="1108953"/>
                <a:ext cx="3683316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𝑜𝑚𝑖𝑛𝑎𝑙</m:t>
                      </m:r>
                      <m:r>
                        <a:rPr lang="th-TH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h-TH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𝑀𝑖𝑛</m:t>
                          </m:r>
                        </m:num>
                        <m:den>
                          <m:r>
                            <a:rPr lang="th-T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th-TH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EE4D51-DFC5-4B00-AF1B-256C49438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417" y="1108953"/>
                <a:ext cx="3683316" cy="803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FCC8F7-DC01-4231-8635-0321DF677565}"/>
                  </a:ext>
                </a:extLst>
              </p:cNvPr>
              <p:cNvSpPr txBox="1"/>
              <p:nvPr/>
            </p:nvSpPr>
            <p:spPr>
              <a:xfrm>
                <a:off x="5739319" y="2223229"/>
                <a:ext cx="6039538" cy="9681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𝑀𝑒𝑑𝑖𝑎𝑛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𝑀𝑎𝑥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𝑀𝑖𝑛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𝑀𝑖𝑛</m:t>
                      </m:r>
                    </m:oMath>
                  </m:oMathPara>
                </a14:m>
                <a:endParaRPr lang="th-TH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FCC8F7-DC01-4231-8635-0321DF677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319" y="2223229"/>
                <a:ext cx="6039538" cy="968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66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24E228-59E6-4FE3-A394-6BFD28245D51}"/>
              </a:ext>
            </a:extLst>
          </p:cNvPr>
          <p:cNvSpPr txBox="1"/>
          <p:nvPr/>
        </p:nvSpPr>
        <p:spPr>
          <a:xfrm>
            <a:off x="461914" y="273378"/>
            <a:ext cx="4469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#1011 OD GRIND: AS81934/1</a:t>
            </a:r>
            <a:endParaRPr lang="th-T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3503B0-B32A-43A1-8E12-D5419A2975F6}"/>
                  </a:ext>
                </a:extLst>
              </p:cNvPr>
              <p:cNvSpPr txBox="1"/>
              <p:nvPr/>
            </p:nvSpPr>
            <p:spPr>
              <a:xfrm>
                <a:off x="6096000" y="796598"/>
                <a:ext cx="5933874" cy="4582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/>
                  <a:t>øD1</a:t>
                </a:r>
              </a:p>
              <a:p>
                <a:r>
                  <a:rPr lang="en-US" sz="2100" dirty="0"/>
                  <a:t>For Aluminum with surface treatment: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±0.010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endParaRPr lang="en-US" sz="2100" dirty="0"/>
              </a:p>
              <a:p>
                <a:r>
                  <a:rPr lang="en-US" sz="2100" dirty="0"/>
                  <a:t>For CRES with passivation: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𝑚𝑒𝑑𝑖𝑎𝑛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𝑜𝑓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𝑡𝑜𝑙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@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𝐹𝑖𝑛𝑎𝑙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endParaRPr lang="en-US" sz="2100" dirty="0"/>
              </a:p>
              <a:p>
                <a:r>
                  <a:rPr lang="en-US" sz="2100" dirty="0"/>
                  <a:t>For CRES with plating: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𝑁𝑜𝑚𝑖𝑛𝑎𝑙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𝑃𝑙𝑎𝑡𝑖𝑛𝑔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𝑡h𝑖𝑐𝑘𝑛𝑒𝑠𝑠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US" sz="21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𝑃𝑙𝑎𝑡𝑖𝑛𝑔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𝑡h𝑖𝑐𝑘𝑛𝑒𝑠𝑠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US" sz="21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en-US" sz="2100" b="0" dirty="0">
                  <a:solidFill>
                    <a:srgbClr val="0000FF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en-US" sz="2100" dirty="0">
                  <a:solidFill>
                    <a:srgbClr val="0000FF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𝑁𝑜𝑚𝑖𝑛𝑎𝑙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𝑂𝐷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𝑂𝐷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th-TH" sz="21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3503B0-B32A-43A1-8E12-D5419A297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96598"/>
                <a:ext cx="5933874" cy="4582601"/>
              </a:xfrm>
              <a:prstGeom prst="rect">
                <a:avLst/>
              </a:prstGeom>
              <a:blipFill>
                <a:blip r:embed="rId2"/>
                <a:stretch>
                  <a:fillRect l="-1233" t="-932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6A3DAD2-47D6-43BD-BFFD-BEA9D0891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9" y="754359"/>
            <a:ext cx="5706893" cy="58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3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AD2246-C1C9-496C-B67E-09FA544E2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7" y="900932"/>
            <a:ext cx="6502155" cy="554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20AA8C-3D3C-4B23-96E5-48D7B44FB351}"/>
              </a:ext>
            </a:extLst>
          </p:cNvPr>
          <p:cNvSpPr txBox="1"/>
          <p:nvPr/>
        </p:nvSpPr>
        <p:spPr>
          <a:xfrm>
            <a:off x="461914" y="273378"/>
            <a:ext cx="3813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#2561 TRIM: AS81934/1</a:t>
            </a:r>
            <a:endParaRPr lang="th-T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1E26EA-2B84-4CA5-9C0C-30B310F69A46}"/>
                  </a:ext>
                </a:extLst>
              </p:cNvPr>
              <p:cNvSpPr txBox="1"/>
              <p:nvPr/>
            </p:nvSpPr>
            <p:spPr>
              <a:xfrm>
                <a:off x="6849486" y="900932"/>
                <a:ext cx="5045035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1=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𝑀𝑎𝑥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. 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𝑀𝑖𝑛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°</m:t>
                                  </m:r>
                                </m:e>
                              </m:func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𝐶h𝑎𝑚𝑓𝑒𝑟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𝐹𝑖𝑛𝑎𝑙</m:t>
                      </m:r>
                    </m:oMath>
                  </m:oMathPara>
                </a14:m>
                <a:endParaRPr lang="th-TH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D1E26EA-2B84-4CA5-9C0C-30B310F69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86" y="900932"/>
                <a:ext cx="5045035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D306AB-FE82-4483-A447-152A7D15C872}"/>
                  </a:ext>
                </a:extLst>
              </p:cNvPr>
              <p:cNvSpPr txBox="1"/>
              <p:nvPr/>
            </p:nvSpPr>
            <p:spPr>
              <a:xfrm>
                <a:off x="6849486" y="2213042"/>
                <a:ext cx="47950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𝑀𝑖𝑛𝑖𝑚𝑢𝑚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𝑓𝑖𝑛𝑎𝑙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</m:oMath>
                  </m:oMathPara>
                </a14:m>
                <a:endParaRPr lang="th-TH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D306AB-FE82-4483-A447-152A7D15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86" y="2213042"/>
                <a:ext cx="4795094" cy="307777"/>
              </a:xfrm>
              <a:prstGeom prst="rect">
                <a:avLst/>
              </a:prstGeom>
              <a:blipFill>
                <a:blip r:embed="rId4"/>
                <a:stretch>
                  <a:fillRect l="-891" t="-7843" r="-1527" b="-25490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37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2313D3-4C8A-4662-8051-13E4CA87AA46}"/>
              </a:ext>
            </a:extLst>
          </p:cNvPr>
          <p:cNvSpPr txBox="1"/>
          <p:nvPr/>
        </p:nvSpPr>
        <p:spPr>
          <a:xfrm>
            <a:off x="461914" y="273378"/>
            <a:ext cx="560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#2511 TEFLON BONDING: AS81934/1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33277-FB70-4047-B450-7F1FBC0C4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9" y="796598"/>
            <a:ext cx="6662728" cy="56890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AB8BB-4C09-4992-8DDB-D43572C0B50F}"/>
                  </a:ext>
                </a:extLst>
              </p:cNvPr>
              <p:cNvSpPr txBox="1"/>
              <p:nvPr/>
            </p:nvSpPr>
            <p:spPr>
              <a:xfrm>
                <a:off x="7161763" y="1043768"/>
                <a:ext cx="4640053" cy="55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𝑁𝑜𝑚𝑖𝑛𝑎𝑙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∅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𝑀𝑎𝑥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𝑓𝑖𝑛𝑎𝑙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+∅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𝑀𝑖𝑛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𝑓𝑖𝑛𝑎𝑙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th-TH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3AB8BB-4C09-4992-8DDB-D43572C0B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763" y="1043768"/>
                <a:ext cx="4640053" cy="5532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D23EB8-3298-444A-8084-96587BCE9D42}"/>
                  </a:ext>
                </a:extLst>
              </p:cNvPr>
              <p:cNvSpPr txBox="1"/>
              <p:nvPr/>
            </p:nvSpPr>
            <p:spPr>
              <a:xfrm>
                <a:off x="8272195" y="2057400"/>
                <a:ext cx="2419188" cy="4658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𝑇𝑜𝑙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 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𝑀𝑎𝑥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 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𝑀𝑖𝑛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th-TH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D23EB8-3298-444A-8084-96587BCE9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2195" y="2057400"/>
                <a:ext cx="2419188" cy="4658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567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4C372A-5B23-4B07-97F9-0B28B65D0AE7}"/>
              </a:ext>
            </a:extLst>
          </p:cNvPr>
          <p:cNvSpPr txBox="1"/>
          <p:nvPr/>
        </p:nvSpPr>
        <p:spPr>
          <a:xfrm>
            <a:off x="461914" y="273378"/>
            <a:ext cx="4346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#0081 TURNING: AS81934/1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52488-F17A-4B50-B817-043870635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4" y="945656"/>
            <a:ext cx="5739066" cy="53891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22590-767E-4153-AA13-65717936E862}"/>
                  </a:ext>
                </a:extLst>
              </p:cNvPr>
              <p:cNvSpPr txBox="1"/>
              <p:nvPr/>
            </p:nvSpPr>
            <p:spPr>
              <a:xfrm>
                <a:off x="6293795" y="945656"/>
                <a:ext cx="5928674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øB0:</a:t>
                </a:r>
              </a:p>
              <a:p>
                <a:r>
                  <a:rPr lang="en-US" sz="2400" dirty="0" err="1"/>
                  <a:t>øD</a:t>
                </a:r>
                <a:r>
                  <a:rPr lang="en-US" sz="2400" dirty="0"/>
                  <a:t> &lt; 60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𝑓𝑖𝑛𝑎𝑙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tol</a:t>
                </a:r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0.01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øD</a:t>
                </a:r>
                <a:r>
                  <a:rPr lang="en-US" sz="2400" dirty="0"/>
                  <a:t> </a:t>
                </a:r>
                <a:r>
                  <a:rPr lang="th-TH" sz="2400" dirty="0"/>
                  <a:t>≥</a:t>
                </a:r>
                <a:r>
                  <a:rPr lang="en-US" sz="2400" dirty="0"/>
                  <a:t> 60 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𝑓𝑖𝑛𝑎𝑙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err="1">
                    <a:solidFill>
                      <a:schemeClr val="tx1"/>
                    </a:solidFill>
                  </a:rPr>
                  <a:t>tol</a:t>
                </a:r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For #20 and more CRES with H/T, please +0.04</a:t>
                </a:r>
              </a:p>
              <a:p>
                <a:r>
                  <a:rPr lang="en-US" sz="2400" dirty="0"/>
                  <a:t>**t = liner thickness</a:t>
                </a:r>
                <a:endParaRPr lang="th-TH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22590-767E-4153-AA13-65717936E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795" y="945656"/>
                <a:ext cx="5928674" cy="2677656"/>
              </a:xfrm>
              <a:prstGeom prst="rect">
                <a:avLst/>
              </a:prstGeom>
              <a:blipFill>
                <a:blip r:embed="rId3"/>
                <a:stretch>
                  <a:fillRect l="-1542" t="-1822" r="-617" b="-2961"/>
                </a:stretch>
              </a:blipFill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B0184A-47C6-47AC-89EE-5FABF00B2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655499"/>
              </p:ext>
            </p:extLst>
          </p:nvPr>
        </p:nvGraphicFramePr>
        <p:xfrm>
          <a:off x="6924511" y="4037901"/>
          <a:ext cx="4161410" cy="18255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0705">
                  <a:extLst>
                    <a:ext uri="{9D8B030D-6E8A-4147-A177-3AD203B41FA5}">
                      <a16:colId xmlns:a16="http://schemas.microsoft.com/office/drawing/2014/main" val="404648165"/>
                    </a:ext>
                  </a:extLst>
                </a:gridCol>
                <a:gridCol w="2080705">
                  <a:extLst>
                    <a:ext uri="{9D8B030D-6E8A-4147-A177-3AD203B41FA5}">
                      <a16:colId xmlns:a16="http://schemas.microsoft.com/office/drawing/2014/main" val="3759675440"/>
                    </a:ext>
                  </a:extLst>
                </a:gridCol>
              </a:tblGrid>
              <a:tr h="4563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Teflon Material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927740"/>
                  </a:ext>
                </a:extLst>
              </a:tr>
              <a:tr h="4563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X-1118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0.540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392343"/>
                  </a:ext>
                </a:extLst>
              </a:tr>
              <a:tr h="4563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X-1820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0.734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904941"/>
                  </a:ext>
                </a:extLst>
              </a:tr>
              <a:tr h="4563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X-1820ENR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0.600</a:t>
                      </a:r>
                      <a:endParaRPr lang="th-TH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5140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DC7F4C-EC1B-4EFE-B7EF-6CAA352734D5}"/>
              </a:ext>
            </a:extLst>
          </p:cNvPr>
          <p:cNvSpPr/>
          <p:nvPr/>
        </p:nvSpPr>
        <p:spPr>
          <a:xfrm>
            <a:off x="461914" y="3186563"/>
            <a:ext cx="342127" cy="170267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54FD2-176A-4F58-AA74-AAC7ED97D757}"/>
              </a:ext>
            </a:extLst>
          </p:cNvPr>
          <p:cNvSpPr txBox="1"/>
          <p:nvPr/>
        </p:nvSpPr>
        <p:spPr>
          <a:xfrm>
            <a:off x="9530687" y="5863473"/>
            <a:ext cx="1555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RE23020, RE23016</a:t>
            </a: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16500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4C372A-5B23-4B07-97F9-0B28B65D0AE7}"/>
              </a:ext>
            </a:extLst>
          </p:cNvPr>
          <p:cNvSpPr txBox="1"/>
          <p:nvPr/>
        </p:nvSpPr>
        <p:spPr>
          <a:xfrm>
            <a:off x="461914" y="273378"/>
            <a:ext cx="4346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#0081 TURNING: AS81934/1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52488-F17A-4B50-B817-043870635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4" y="945655"/>
            <a:ext cx="5739066" cy="53891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22590-767E-4153-AA13-65717936E862}"/>
                  </a:ext>
                </a:extLst>
              </p:cNvPr>
              <p:cNvSpPr txBox="1"/>
              <p:nvPr/>
            </p:nvSpPr>
            <p:spPr>
              <a:xfrm>
                <a:off x="6270146" y="945655"/>
                <a:ext cx="4085927" cy="156966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øD0 (Nominal):</a:t>
                </a:r>
              </a:p>
              <a:p>
                <a:r>
                  <a:rPr lang="en-US" sz="2400" dirty="0" err="1"/>
                  <a:t>øB</a:t>
                </a:r>
                <a:r>
                  <a:rPr lang="th-TH" sz="2400" dirty="0"/>
                  <a:t> ≤</a:t>
                </a:r>
                <a:r>
                  <a:rPr lang="en-US" sz="2400" dirty="0"/>
                  <a:t> 45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𝑓𝑖𝑛𝑎𝑙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+0.1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øB</a:t>
                </a:r>
                <a:r>
                  <a:rPr lang="en-US" sz="2400" dirty="0"/>
                  <a:t> &gt; 45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𝑓𝑖𝑛𝑎𝑙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+0.2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22590-767E-4153-AA13-65717936E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146" y="945655"/>
                <a:ext cx="4085927" cy="1569660"/>
              </a:xfrm>
              <a:prstGeom prst="rect">
                <a:avLst/>
              </a:prstGeom>
              <a:blipFill>
                <a:blip r:embed="rId3"/>
                <a:stretch>
                  <a:fillRect l="-2388" t="-3101" b="-775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CE65EC6-F257-42ED-BCE0-A17058230521}"/>
              </a:ext>
            </a:extLst>
          </p:cNvPr>
          <p:cNvSpPr/>
          <p:nvPr/>
        </p:nvSpPr>
        <p:spPr>
          <a:xfrm>
            <a:off x="2254467" y="1781503"/>
            <a:ext cx="1166649" cy="44931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9882D6-7640-469A-BE69-EDFD2554A3CB}"/>
              </a:ext>
            </a:extLst>
          </p:cNvPr>
          <p:cNvSpPr/>
          <p:nvPr/>
        </p:nvSpPr>
        <p:spPr>
          <a:xfrm>
            <a:off x="5509098" y="3640217"/>
            <a:ext cx="457200" cy="118517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808109-63B0-4CDA-881E-424A6368FA93}"/>
                  </a:ext>
                </a:extLst>
              </p:cNvPr>
              <p:cNvSpPr txBox="1"/>
              <p:nvPr/>
            </p:nvSpPr>
            <p:spPr>
              <a:xfrm>
                <a:off x="6270146" y="3640216"/>
                <a:ext cx="5898153" cy="16291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L0 (Median):</a:t>
                </a:r>
              </a:p>
              <a:p>
                <a:r>
                  <a:rPr lang="en-US" sz="2000" dirty="0"/>
                  <a:t>CRES: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𝑀𝑎𝑥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𝑓𝑖𝑛𝑎𝑙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𝑀𝑖𝑛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𝑓𝑖𝑛𝑎𝑙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tol</a:t>
                </a:r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ALU: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𝑀𝑎𝑥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𝑓𝑖𝑛𝑎𝑙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𝑀𝑖𝑛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 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𝑓𝑖𝑛𝑎𝑙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+0.05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tol</a:t>
                </a:r>
                <a:r>
                  <a:rPr lang="en-US" sz="2000" dirty="0"/>
                  <a:t>.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0.025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808109-63B0-4CDA-881E-424A6368F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146" y="3640216"/>
                <a:ext cx="5898153" cy="1629164"/>
              </a:xfrm>
              <a:prstGeom prst="rect">
                <a:avLst/>
              </a:prstGeom>
              <a:blipFill>
                <a:blip r:embed="rId4"/>
                <a:stretch>
                  <a:fillRect l="-1138" t="-1873" b="-149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89D700-6453-4C5A-BCBD-F7BADDCDE530}"/>
              </a:ext>
            </a:extLst>
          </p:cNvPr>
          <p:cNvCxnSpPr/>
          <p:nvPr/>
        </p:nvCxnSpPr>
        <p:spPr>
          <a:xfrm>
            <a:off x="6270146" y="3160985"/>
            <a:ext cx="50922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49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4C372A-5B23-4B07-97F9-0B28B65D0AE7}"/>
              </a:ext>
            </a:extLst>
          </p:cNvPr>
          <p:cNvSpPr txBox="1"/>
          <p:nvPr/>
        </p:nvSpPr>
        <p:spPr>
          <a:xfrm>
            <a:off x="461914" y="273378"/>
            <a:ext cx="4346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#0081 TURNING: AS81934/1</a:t>
            </a:r>
            <a:endParaRPr lang="th-T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52488-F17A-4B50-B817-043870635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4" y="945655"/>
            <a:ext cx="5739066" cy="53891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22590-767E-4153-AA13-65717936E862}"/>
                  </a:ext>
                </a:extLst>
              </p:cNvPr>
              <p:cNvSpPr txBox="1"/>
              <p:nvPr/>
            </p:nvSpPr>
            <p:spPr>
              <a:xfrm>
                <a:off x="6530277" y="945655"/>
                <a:ext cx="4085927" cy="156966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øD0 (Nominal):</a:t>
                </a:r>
              </a:p>
              <a:p>
                <a:r>
                  <a:rPr lang="en-US" sz="2400" dirty="0" err="1"/>
                  <a:t>øB</a:t>
                </a:r>
                <a:r>
                  <a:rPr lang="th-TH" sz="2400" dirty="0"/>
                  <a:t> ≤</a:t>
                </a:r>
                <a:r>
                  <a:rPr lang="en-US" sz="2400" dirty="0"/>
                  <a:t> 45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𝑓𝑖𝑛𝑎𝑙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+0.1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 err="1"/>
                  <a:t>øB</a:t>
                </a:r>
                <a:r>
                  <a:rPr lang="en-US" sz="2400" dirty="0"/>
                  <a:t> &gt; 45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0=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𝑓𝑖𝑛𝑎𝑙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+0.2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822590-767E-4153-AA13-65717936E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277" y="945655"/>
                <a:ext cx="4085927" cy="1569660"/>
              </a:xfrm>
              <a:prstGeom prst="rect">
                <a:avLst/>
              </a:prstGeom>
              <a:blipFill>
                <a:blip r:embed="rId3"/>
                <a:stretch>
                  <a:fillRect l="-2235" t="-3101" b="-775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th-T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C9882D6-7640-469A-BE69-EDFD2554A3CB}"/>
              </a:ext>
            </a:extLst>
          </p:cNvPr>
          <p:cNvSpPr/>
          <p:nvPr/>
        </p:nvSpPr>
        <p:spPr>
          <a:xfrm>
            <a:off x="4239974" y="3628334"/>
            <a:ext cx="457200" cy="118517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383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EBD493-B644-4273-A94D-716065C4F615}"/>
              </a:ext>
            </a:extLst>
          </p:cNvPr>
          <p:cNvCxnSpPr/>
          <p:nvPr/>
        </p:nvCxnSpPr>
        <p:spPr>
          <a:xfrm>
            <a:off x="459052" y="2902578"/>
            <a:ext cx="1160439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FE53B8A-7FDF-42AB-B0EE-14F5687203F0}"/>
              </a:ext>
            </a:extLst>
          </p:cNvPr>
          <p:cNvGrpSpPr/>
          <p:nvPr/>
        </p:nvGrpSpPr>
        <p:grpSpPr>
          <a:xfrm>
            <a:off x="205937" y="3131359"/>
            <a:ext cx="11780126" cy="2011010"/>
            <a:chOff x="235670" y="233172"/>
            <a:chExt cx="11780126" cy="2011010"/>
          </a:xfrm>
        </p:grpSpPr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3568D0C1-BAA3-4154-89D9-313DC0AF3448}"/>
                </a:ext>
              </a:extLst>
            </p:cNvPr>
            <p:cNvSpPr/>
            <p:nvPr/>
          </p:nvSpPr>
          <p:spPr>
            <a:xfrm>
              <a:off x="6266689" y="768833"/>
              <a:ext cx="458825" cy="32044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204069A-488B-4AB8-B064-DDCFB4CFA2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3402"/>
            <a:stretch/>
          </p:blipFill>
          <p:spPr>
            <a:xfrm>
              <a:off x="235670" y="544104"/>
              <a:ext cx="5830321" cy="88905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4A17202-4D7E-4CF8-BED7-45AF96FE3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7384" y="233172"/>
              <a:ext cx="5168412" cy="201101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707CD4-42F9-4673-8352-BBF918F46F62}"/>
                </a:ext>
              </a:extLst>
            </p:cNvPr>
            <p:cNvSpPr/>
            <p:nvPr/>
          </p:nvSpPr>
          <p:spPr>
            <a:xfrm>
              <a:off x="3965739" y="978141"/>
              <a:ext cx="1505607" cy="4430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A2A44CA-2763-4E95-82C3-A62BF3BA3651}"/>
                </a:ext>
              </a:extLst>
            </p:cNvPr>
            <p:cNvSpPr/>
            <p:nvPr/>
          </p:nvSpPr>
          <p:spPr>
            <a:xfrm>
              <a:off x="8130981" y="646243"/>
              <a:ext cx="1944707" cy="6677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659FEA9-D62B-424D-848B-44567C76CFC3}"/>
              </a:ext>
            </a:extLst>
          </p:cNvPr>
          <p:cNvGrpSpPr/>
          <p:nvPr/>
        </p:nvGrpSpPr>
        <p:grpSpPr>
          <a:xfrm>
            <a:off x="98435" y="123780"/>
            <a:ext cx="11878866" cy="2613909"/>
            <a:chOff x="134950" y="2473155"/>
            <a:chExt cx="11878866" cy="261390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46ED697-1D4B-48D9-B1C8-499CBAB2E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7427" y="2473155"/>
              <a:ext cx="5456389" cy="2613909"/>
            </a:xfrm>
            <a:prstGeom prst="rect">
              <a:avLst/>
            </a:prstGeom>
          </p:spPr>
        </p:pic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10275CC5-A945-4D4B-9435-C47F92F2AA68}"/>
                </a:ext>
              </a:extLst>
            </p:cNvPr>
            <p:cNvSpPr/>
            <p:nvPr/>
          </p:nvSpPr>
          <p:spPr>
            <a:xfrm>
              <a:off x="6165971" y="3301737"/>
              <a:ext cx="458825" cy="32044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890F5D5-B4DC-4762-AA60-0DA5D7E42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4950" y="2979857"/>
              <a:ext cx="5945940" cy="964207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C150B9-37DB-46AC-9F10-BFD3B27DBCFA}"/>
                </a:ext>
              </a:extLst>
            </p:cNvPr>
            <p:cNvSpPr/>
            <p:nvPr/>
          </p:nvSpPr>
          <p:spPr>
            <a:xfrm>
              <a:off x="3865020" y="3464565"/>
              <a:ext cx="1505607" cy="4430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C0AB4D-2116-493A-9F5C-4401C08D6028}"/>
                </a:ext>
              </a:extLst>
            </p:cNvPr>
            <p:cNvSpPr/>
            <p:nvPr/>
          </p:nvSpPr>
          <p:spPr>
            <a:xfrm>
              <a:off x="7803046" y="3208988"/>
              <a:ext cx="2171923" cy="69861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05F75B-D3AE-40DA-81DE-FBF6EFF119CB}"/>
              </a:ext>
            </a:extLst>
          </p:cNvPr>
          <p:cNvSpPr/>
          <p:nvPr/>
        </p:nvSpPr>
        <p:spPr>
          <a:xfrm>
            <a:off x="377078" y="1520251"/>
            <a:ext cx="3381704" cy="9641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document title and number do not match.</a:t>
            </a:r>
            <a:endParaRPr lang="th-TH" sz="1800" dirty="0">
              <a:latin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D15806-A906-4055-AA41-B31082E4ACFA}"/>
              </a:ext>
            </a:extLst>
          </p:cNvPr>
          <p:cNvCxnSpPr/>
          <p:nvPr/>
        </p:nvCxnSpPr>
        <p:spPr>
          <a:xfrm>
            <a:off x="235670" y="5317330"/>
            <a:ext cx="1160439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7086DAC0-9CBA-4A55-B8A9-CD23754AE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48" y="5515710"/>
            <a:ext cx="6525536" cy="102884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BD14BF-9F37-4AE3-BEF8-284567156A31}"/>
              </a:ext>
            </a:extLst>
          </p:cNvPr>
          <p:cNvSpPr/>
          <p:nvPr/>
        </p:nvSpPr>
        <p:spPr>
          <a:xfrm>
            <a:off x="7100661" y="5686301"/>
            <a:ext cx="1917215" cy="6986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No attached file</a:t>
            </a:r>
            <a:endParaRPr lang="th-TH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197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A5FEBE-0400-4FE4-AE84-F12B9C8AF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36" y="398079"/>
            <a:ext cx="8547278" cy="60618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DF3845-8983-4834-BB71-E161C1443F7D}"/>
              </a:ext>
            </a:extLst>
          </p:cNvPr>
          <p:cNvSpPr/>
          <p:nvPr/>
        </p:nvSpPr>
        <p:spPr>
          <a:xfrm>
            <a:off x="2711669" y="5044966"/>
            <a:ext cx="1726324" cy="7094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B8703A-9704-421E-9EB4-2658B220EBB8}"/>
              </a:ext>
            </a:extLst>
          </p:cNvPr>
          <p:cNvSpPr/>
          <p:nvPr/>
        </p:nvSpPr>
        <p:spPr>
          <a:xfrm>
            <a:off x="4437993" y="4225159"/>
            <a:ext cx="2680138" cy="8198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Drawing liner specifies with RP21722 for X-1820 ENR</a:t>
            </a:r>
            <a:endParaRPr lang="th-TH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5DEE55-F920-4FFD-A3BC-D9917DA78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766" y="1941922"/>
            <a:ext cx="5191942" cy="202016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AC135E7-34D0-4810-8695-99F14183FB15}"/>
              </a:ext>
            </a:extLst>
          </p:cNvPr>
          <p:cNvCxnSpPr>
            <a:stCxn id="5" idx="3"/>
            <a:endCxn id="3" idx="2"/>
          </p:cNvCxnSpPr>
          <p:nvPr/>
        </p:nvCxnSpPr>
        <p:spPr>
          <a:xfrm flipV="1">
            <a:off x="4437993" y="3962088"/>
            <a:ext cx="5021744" cy="143760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787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409</Words>
  <Application>Microsoft Office PowerPoint</Application>
  <PresentationFormat>ワイド画面</PresentationFormat>
  <Paragraphs>58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Angsana New</vt:lpstr>
      <vt:lpstr>Arial</vt:lpstr>
      <vt:lpstr>Calibri</vt:lpstr>
      <vt:lpstr>Calibri Light</vt:lpstr>
      <vt:lpstr>Cambria Math</vt:lpstr>
      <vt:lpstr>Cordia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Somsuda Srisujja</dc:creator>
  <cp:lastModifiedBy>Windows ユーザー</cp:lastModifiedBy>
  <cp:revision>30</cp:revision>
  <dcterms:created xsi:type="dcterms:W3CDTF">2026-04-13T00:33:31Z</dcterms:created>
  <dcterms:modified xsi:type="dcterms:W3CDTF">2026-04-22T06:42:46Z</dcterms:modified>
</cp:coreProperties>
</file>